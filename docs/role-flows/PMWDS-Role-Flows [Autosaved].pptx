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9" r:id="rId22"/>
    <p:sldId id="282" r:id="rId23"/>
    <p:sldId id="283" r:id="rId24"/>
    <p:sldId id="294" r:id="rId25"/>
    <p:sldId id="306" r:id="rId26"/>
    <p:sldId id="310" r:id="rId27"/>
    <p:sldId id="31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5569"/>
    <a:srgbClr val="0E7490"/>
    <a:srgbClr val="B453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300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8778240" cy="216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dirty="0">
                <a:solidFill>
                  <a:schemeClr val="tx2"/>
                </a:solidFill>
                <a:latin typeface="Segoe UI"/>
              </a:rPr>
              <a:t>PMWDS  ·  PROJECT MONITORING &amp; WORKLOAD DISTRIBUTION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8595360" cy="7175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Role Based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8229600" cy="629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dirty="0">
                <a:solidFill>
                  <a:schemeClr val="tx2"/>
                </a:solidFill>
                <a:latin typeface="Segoe UI"/>
              </a:rPr>
              <a:t>How PMWDS adapts its navigation, visible data and available actions to the user's role — walked through screen by screen.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114800"/>
            <a:ext cx="10607040" cy="566928"/>
          </a:xfrm>
          <a:prstGeom prst="roundRect">
            <a:avLst>
              <a:gd name="adj" fmla="val 10000"/>
            </a:avLst>
          </a:prstGeom>
          <a:solidFill>
            <a:srgbClr val="1B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4114800"/>
            <a:ext cx="45720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4242816"/>
            <a:ext cx="10149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8BDF8"/>
                </a:solidFill>
                <a:latin typeface="Segoe UI"/>
              </a:rPr>
              <a:t>Note:  </a:t>
            </a:r>
            <a:r>
              <a:rPr sz="1150" b="0">
                <a:solidFill>
                  <a:srgbClr val="B9C0E0"/>
                </a:solidFill>
                <a:latin typeface="Segoe UI"/>
              </a:rPr>
              <a:t>roles in PMWDS are dynamic and configurable. The four below are used here to simulate and demonstrate the 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120640"/>
            <a:ext cx="2487168" cy="822960"/>
          </a:xfrm>
          <a:prstGeom prst="roundRect">
            <a:avLst>
              <a:gd name="adj" fmla="val 14000"/>
            </a:avLst>
          </a:prstGeom>
          <a:solidFill>
            <a:srgbClr val="1B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8680" y="5120640"/>
            <a:ext cx="50292" cy="82296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524865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5120640"/>
            <a:ext cx="2487168" cy="822960"/>
          </a:xfrm>
          <a:prstGeom prst="roundRect">
            <a:avLst>
              <a:gd name="adj" fmla="val 14000"/>
            </a:avLst>
          </a:prstGeom>
          <a:solidFill>
            <a:srgbClr val="1B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20440" y="5120640"/>
            <a:ext cx="50292" cy="8229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21608" y="524865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Manager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120640"/>
            <a:ext cx="2487168" cy="822960"/>
          </a:xfrm>
          <a:prstGeom prst="roundRect">
            <a:avLst>
              <a:gd name="adj" fmla="val 14000"/>
            </a:avLst>
          </a:prstGeom>
          <a:solidFill>
            <a:srgbClr val="1B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5120640"/>
            <a:ext cx="50292" cy="8229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524865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DepartmentHead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5120640"/>
            <a:ext cx="2487168" cy="822960"/>
          </a:xfrm>
          <a:prstGeom prst="roundRect">
            <a:avLst>
              <a:gd name="adj" fmla="val 14000"/>
            </a:avLst>
          </a:prstGeom>
          <a:solidFill>
            <a:srgbClr val="1B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23960" y="5120640"/>
            <a:ext cx="50292" cy="82296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25128" y="524865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TeamMember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4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4754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4F46E5"/>
                </a:solidFill>
                <a:latin typeface="Segoe UI"/>
              </a:rPr>
              <a:t>ACCESS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86384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>
                <a:solidFill>
                  <a:srgbClr val="0F142E"/>
                </a:solidFill>
                <a:latin typeface="Segoe UI"/>
              </a:rPr>
              <a:t>What each role can 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0817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8A93B0"/>
                </a:solidFill>
                <a:latin typeface="Segoe UI"/>
              </a:rPr>
              <a:t>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335024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0" y="1376172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05856" y="1335024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05856" y="1376172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1335024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9792" y="1376172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DepartmentHead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53728" y="1335024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53728" y="1376172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TeamMember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655064"/>
            <a:ext cx="10204704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" y="1700784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2E"/>
                </a:solidFill>
                <a:latin typeface="Segoe UI"/>
              </a:rPr>
              <a:t>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87952" y="1691640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87952" y="171907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1888" y="1691640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61888" y="171907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35824" y="1691640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35824" y="171907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691640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0" y="171907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200710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2E"/>
                </a:solidFill>
                <a:latin typeface="Segoe UI"/>
              </a:rPr>
              <a:t>Projects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87952" y="1997964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87952" y="2025396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61888" y="1997964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61888" y="2025396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35824" y="1997964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35824" y="2025396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1997964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0" y="2025396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2267712"/>
            <a:ext cx="10204704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8096" y="2313432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2E"/>
                </a:solidFill>
                <a:latin typeface="Segoe UI"/>
              </a:rPr>
              <a:t>Project overview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87952" y="2304288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87952" y="2331720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61888" y="2304288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61888" y="2331720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35824" y="2304288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35824" y="2331720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2304288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09760" y="2331720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261975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2E"/>
                </a:solidFill>
                <a:latin typeface="Segoe UI"/>
              </a:rPr>
              <a:t>Milestones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87952" y="2610612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87952" y="2638044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61888" y="2610612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61888" y="2638044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35824" y="2610612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35824" y="2638044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09760" y="2610612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09760" y="2638044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2880360"/>
            <a:ext cx="10204704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68096" y="2926080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2E"/>
                </a:solidFill>
                <a:latin typeface="Segoe UI"/>
              </a:rPr>
              <a:t>Tasks &amp; subtasks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87952" y="2916936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87952" y="2944368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61888" y="2916936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61888" y="2944368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35824" y="2916936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35824" y="2944368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09760" y="2916936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509760" y="2944368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" y="3232404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2E"/>
                </a:solidFill>
                <a:latin typeface="Segoe UI"/>
              </a:rPr>
              <a:t>Documents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87952" y="3223260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187952" y="325069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61888" y="3223260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961888" y="325069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35824" y="3223260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35824" y="325069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509760" y="3223260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509760" y="325069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" y="3493008"/>
            <a:ext cx="10204704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68096" y="353872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2E"/>
                </a:solidFill>
                <a:latin typeface="Segoe UI"/>
              </a:rPr>
              <a:t>User administration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187952" y="3529584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87952" y="3557016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961888" y="3529584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61888" y="3557016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735824" y="3529584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735824" y="3557016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509760" y="3529584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509760" y="3557016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8A93B0"/>
                </a:solidFill>
                <a:latin typeface="Segoe UI"/>
              </a:rPr>
              <a:t>Restricted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8096" y="3845052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2E"/>
                </a:solidFill>
                <a:latin typeface="Segoe UI"/>
              </a:rPr>
              <a:t>Departments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187952" y="3835908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187952" y="3863340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61888" y="3835908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961888" y="3863340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735824" y="3835908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735824" y="3863340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509760" y="3835908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509760" y="3863340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8A93B0"/>
                </a:solidFill>
                <a:latin typeface="Segoe UI"/>
              </a:rPr>
              <a:t>Restricted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8368" y="4105656"/>
            <a:ext cx="10204704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68096" y="415137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2E"/>
                </a:solidFill>
                <a:latin typeface="Segoe UI"/>
              </a:rPr>
              <a:t>Profiles &amp; skills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87952" y="4142232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187952" y="4169664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61888" y="4142232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961888" y="4169664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735824" y="4142232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735824" y="4169664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509760" y="4142232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509760" y="4169664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8A93B0"/>
                </a:solidFill>
                <a:latin typeface="Segoe UI"/>
              </a:rPr>
              <a:t>Restricted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8096" y="4457700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2E"/>
                </a:solidFill>
                <a:latin typeface="Segoe UI"/>
              </a:rPr>
              <a:t>Roles &amp; permissions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187952" y="4448556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187952" y="4475988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961888" y="4448556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61888" y="4475988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8A93B0"/>
                </a:solidFill>
                <a:latin typeface="Segoe UI"/>
              </a:rPr>
              <a:t>Restricted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735824" y="4448556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735824" y="4475988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8A93B0"/>
                </a:solidFill>
                <a:latin typeface="Segoe UI"/>
              </a:rPr>
              <a:t>Restricted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509760" y="4448556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509760" y="4475988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8A93B0"/>
                </a:solidFill>
                <a:latin typeface="Segoe UI"/>
              </a:rPr>
              <a:t>Restricted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58368" y="4718304"/>
            <a:ext cx="10204704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68096" y="4764024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2E"/>
                </a:solidFill>
                <a:latin typeface="Segoe UI"/>
              </a:rPr>
              <a:t>Activity logs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187952" y="4754880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187952" y="478231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61888" y="4754880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961888" y="478231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8A93B0"/>
                </a:solidFill>
                <a:latin typeface="Segoe UI"/>
              </a:rPr>
              <a:t>Restricted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735824" y="4754880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735824" y="478231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509760" y="4754880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509760" y="478231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8A93B0"/>
                </a:solidFill>
                <a:latin typeface="Segoe UI"/>
              </a:rPr>
              <a:t>Restricted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68096" y="507034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2E"/>
                </a:solidFill>
                <a:latin typeface="Segoe UI"/>
              </a:rPr>
              <a:t>Reports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187952" y="5061204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187952" y="5088636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961888" y="5061204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961888" y="5088636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8A93B0"/>
                </a:solidFill>
                <a:latin typeface="Segoe UI"/>
              </a:rPr>
              <a:t>Restricted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735824" y="5061204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735824" y="5088636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8A93B0"/>
                </a:solidFill>
                <a:latin typeface="Segoe UI"/>
              </a:rPr>
              <a:t>Restricted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509760" y="5061204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509760" y="5088636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8A93B0"/>
                </a:solidFill>
                <a:latin typeface="Segoe UI"/>
              </a:rPr>
              <a:t>Restricted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58368" y="5330952"/>
            <a:ext cx="10204704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68096" y="5376672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2E"/>
                </a:solidFill>
                <a:latin typeface="Segoe UI"/>
              </a:rPr>
              <a:t>AI insights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187952" y="5367528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4187952" y="5394960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961888" y="5367528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5961888" y="5394960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8A93B0"/>
                </a:solidFill>
                <a:latin typeface="Segoe UI"/>
              </a:rPr>
              <a:t>Restricted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735824" y="5367528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735824" y="5394960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8A93B0"/>
                </a:solidFill>
                <a:latin typeface="Segoe UI"/>
              </a:rPr>
              <a:t>Restricted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509760" y="5367528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9509760" y="5394960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8A93B0"/>
                </a:solidFill>
                <a:latin typeface="Segoe UI"/>
              </a:rPr>
              <a:t>Restricted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68096" y="568299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2E"/>
                </a:solidFill>
                <a:latin typeface="Segoe UI"/>
              </a:rPr>
              <a:t>Notifications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187952" y="5673852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4187952" y="5701284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961888" y="5673852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5961888" y="5701284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735824" y="5673852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7735824" y="5701284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509760" y="5673852"/>
            <a:ext cx="969264" cy="2286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509760" y="5701284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EA572"/>
                </a:solidFill>
                <a:latin typeface="Segoe UI"/>
              </a:rPr>
              <a:t>Available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58368" y="619048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F142E"/>
                </a:solidFill>
                <a:latin typeface="Segoe UI"/>
              </a:rPr>
              <a:t>Scoping is enforced server-side.</a:t>
            </a:r>
            <a:r>
              <a:rPr sz="1150" b="0">
                <a:solidFill>
                  <a:srgbClr val="8A93B0"/>
                </a:solidFill>
                <a:latin typeface="Segoe UI"/>
              </a:rPr>
              <a:t>  'Restricted' means the API returns no data and the route guard refuses to render.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58368" y="6446520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F142E"/>
                </a:solidFill>
                <a:latin typeface="Segoe UI"/>
              </a:rPr>
              <a:t>Roles are configuration, not code.</a:t>
            </a:r>
            <a:r>
              <a:rPr sz="1150" b="0">
                <a:solidFill>
                  <a:srgbClr val="8A93B0"/>
                </a:solidFill>
                <a:latin typeface="Segoe UI"/>
              </a:rPr>
              <a:t>  These four simulate the flow; any number of custom roles can be defined and granted.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18CF8"/>
                </a:solidFill>
                <a:latin typeface="Segoe UI"/>
              </a:rPr>
              <a:t>ROLE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7863840" cy="727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 dirty="0">
                <a:solidFill>
                  <a:schemeClr val="tx2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73552"/>
            <a:ext cx="7680960" cy="305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2"/>
                </a:solidFill>
                <a:latin typeface="Segoe UI"/>
              </a:rPr>
              <a:t>Runs the whole organization — delivery, people and governance.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1148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187952"/>
            <a:ext cx="2377440" cy="221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150" b="1" dirty="0" smtClean="0">
                <a:solidFill>
                  <a:srgbClr val="0F142E"/>
                </a:solidFill>
                <a:latin typeface="Segoe UI"/>
              </a:rPr>
              <a:t>Relevant</a:t>
            </a:r>
            <a:r>
              <a:rPr sz="1150" b="1" dirty="0" smtClean="0">
                <a:solidFill>
                  <a:srgbClr val="0F142E"/>
                </a:solidFill>
                <a:latin typeface="Segoe UI"/>
              </a:rPr>
              <a:t> </a:t>
            </a:r>
            <a:r>
              <a:rPr sz="1150" b="1" dirty="0">
                <a:solidFill>
                  <a:srgbClr val="0F142E"/>
                </a:solidFill>
                <a:latin typeface="Segoe UI"/>
              </a:rPr>
              <a:t>screens in this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dirty="0">
                <a:solidFill>
                  <a:srgbClr val="8A93B0"/>
                </a:solidFill>
                <a:latin typeface="Segoe U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Every module opens from here. The Admin sees the same dashboard as everyone else — the difference is that nothing in it is switched 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dirty="0">
                <a:solidFill>
                  <a:srgbClr val="8A93B0"/>
                </a:solidFill>
                <a:latin typeface="Segoe UI"/>
              </a:rP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The project portfolio, filtered by department, status and priority. Search spans name, code, description, department and manager.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2-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New Project opens a four-step wizard. Step one captures the name, owning department, description, priority, budget in lakhs and the delivery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-wizard-1-project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Milestones break the programme into trackable phases. Each needs a name, description and due date; at least one is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2-wizard-2-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Every milestone is assigned an owning department, which is what later drives workload and capacity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3-wizard-3-assign-depar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Dependencies declare which milestone waits on which, so blocked work is flagged before tasks start. Shown filled and ready — Finish is not pressed.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4-wizard-4-depend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One project, every dimension of it: milestones, task status, budget, dependencies, team assignment and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3-projec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The full phase-by-phase timeline with status and dependency blocking, so the critical path is visible without exporting anything.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4-project-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The widest task surface in the product — create, assign, escalate and decompose work down to subtasks.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5-project-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Documents and utilization certificates sit together: the register of project files, and the proof that released funds were used as intended.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6-project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Every user in the organization with role, department, workload and burnout risk — and the ability to create, edit and deactivate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8-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Departments are maintained here, and then become the scope that every lower role inherits.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9-depar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The detail layer behind staffing decisions: skills, proficiency and utilisation per person.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1-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Roles and their grants are configuration. This screen is what makes every other restriction in this deck true.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2-roles-per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A system-wide activity trail across users, teams and projects — the evidence layer for any governance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3-activity-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Pre-built report packs across delivery, finance and effort, each downloadable.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4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Risk prediction, timeline predictions and recommendations — the layer that turns project data into a decision.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5-ai-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190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dirty="0">
                <a:solidFill>
                  <a:srgbClr val="8A93B0"/>
                </a:solidFill>
                <a:latin typeface="Segoe UI"/>
              </a:rPr>
              <a:t>STEP </a:t>
            </a:r>
            <a:r>
              <a:rPr lang="en-US" sz="1100" b="1" dirty="0" smtClean="0">
                <a:solidFill>
                  <a:srgbClr val="8A93B0"/>
                </a:solidFill>
                <a:latin typeface="Segoe UI"/>
              </a:rPr>
              <a:t>18</a:t>
            </a:r>
            <a:endParaRPr sz="1100" b="1" dirty="0">
              <a:solidFill>
                <a:srgbClr val="8A93B0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New starters are created directly with a role and department, without an administrator in the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6-users-create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10216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rgbClr val="38BDF8"/>
                </a:solidFill>
                <a:latin typeface="Segoe UI"/>
              </a:rPr>
              <a:t>ROLE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2444971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 dirty="0">
                <a:solidFill>
                  <a:srgbClr val="0E7490"/>
                </a:solidFill>
                <a:latin typeface="Segoe UI"/>
              </a:rPr>
              <a:t>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73552"/>
            <a:ext cx="7680960" cy="305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2"/>
                </a:solidFill>
                <a:latin typeface="Segoe UI"/>
              </a:rPr>
              <a:t>Owns assigned projects and the teams delivering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1148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187952"/>
            <a:ext cx="2377440" cy="19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150" b="1" dirty="0">
                <a:solidFill>
                  <a:srgbClr val="0F142E"/>
                </a:solidFill>
                <a:latin typeface="Segoe UI"/>
              </a:rPr>
              <a:t>Relevant screens in this flow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228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444E6E"/>
                </a:solidFill>
                <a:latin typeface="Segoe UI"/>
              </a:rPr>
              <a:t>The same </a:t>
            </a:r>
            <a:r>
              <a:rPr sz="1200" b="0" dirty="0" smtClean="0">
                <a:solidFill>
                  <a:srgbClr val="444E6E"/>
                </a:solidFill>
                <a:latin typeface="Segoe UI"/>
              </a:rPr>
              <a:t>dashboard</a:t>
            </a:r>
            <a:r>
              <a:rPr lang="en-US" sz="1200" b="0" dirty="0" smtClean="0">
                <a:solidFill>
                  <a:srgbClr val="444E6E"/>
                </a:solidFill>
                <a:latin typeface="Segoe UI"/>
              </a:rPr>
              <a:t> shows only relevant respected menu and pages for the manager</a:t>
            </a:r>
            <a:r>
              <a:rPr sz="1200" b="0" dirty="0" smtClean="0">
                <a:solidFill>
                  <a:srgbClr val="444E6E"/>
                </a:solidFill>
                <a:latin typeface="Segoe UI"/>
              </a:rPr>
              <a:t>.</a:t>
            </a:r>
            <a:endParaRPr sz="1200" b="0" dirty="0">
              <a:solidFill>
                <a:srgbClr val="444E6E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91165" y="-100873"/>
            <a:ext cx="2444971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 dirty="0">
                <a:solidFill>
                  <a:srgbClr val="0E7490"/>
                </a:solidFill>
                <a:latin typeface="Segoe UI"/>
              </a:rPr>
              <a:t>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859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4792" y="206452"/>
            <a:ext cx="968509" cy="207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chemeClr val="bg1"/>
                </a:solidFill>
                <a:latin typeface="Segoe UI"/>
              </a:rPr>
              <a:t>ROLE 3 OF 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859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228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44E6E"/>
                </a:solidFill>
                <a:latin typeface="Segoe UI"/>
              </a:rPr>
              <a:t>The same dashboard shows only relevant respected menu and pages for the </a:t>
            </a:r>
            <a:r>
              <a:rPr lang="en-US" sz="1200" dirty="0" smtClean="0">
                <a:solidFill>
                  <a:srgbClr val="444E6E"/>
                </a:solidFill>
                <a:latin typeface="Segoe UI"/>
              </a:rPr>
              <a:t>Department Head.</a:t>
            </a:r>
            <a:endParaRPr lang="en-US" sz="1200" dirty="0">
              <a:solidFill>
                <a:srgbClr val="444E6E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4792" y="206452"/>
            <a:ext cx="968509" cy="207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chemeClr val="bg1"/>
                </a:solidFill>
                <a:latin typeface="Segoe UI"/>
              </a:rPr>
              <a:t>ROLE 3 OF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0918" y="-101694"/>
            <a:ext cx="4517052" cy="727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 dirty="0">
                <a:solidFill>
                  <a:srgbClr val="B45309"/>
                </a:solidFill>
                <a:latin typeface="Segoe UI"/>
              </a:rPr>
              <a:t>Department Head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Three menu items and no administration surface at all — no New Project action, and only the tasks actually assigned to this 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1859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4792" y="206452"/>
            <a:ext cx="968509" cy="207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chemeClr val="bg1"/>
                </a:solidFill>
                <a:latin typeface="Segoe UI"/>
              </a:rPr>
              <a:t>ROLE 3 OF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0918" y="-101694"/>
            <a:ext cx="4517052" cy="727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4200" b="1" dirty="0" smtClean="0">
                <a:solidFill>
                  <a:srgbClr val="475569"/>
                </a:solidFill>
                <a:latin typeface="Segoe UI"/>
              </a:rPr>
              <a:t>Team Member</a:t>
            </a:r>
            <a:endParaRPr sz="4200" b="1" dirty="0">
              <a:solidFill>
                <a:srgbClr val="475569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9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TeamMember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8256" y="26517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93B0"/>
                </a:solidFill>
                <a:latin typeface="Segoe UI"/>
              </a:rPr>
              <a:t>STEP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44E6E"/>
                </a:solidFill>
                <a:latin typeface="Segoe UI"/>
              </a:rPr>
              <a:t>The real workspace: run the task, track time against it, record progress. No create, no escalate.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3327" y="1088136"/>
            <a:ext cx="9845040" cy="5577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5-project-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133856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4754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4F46E5"/>
                </a:solidFill>
                <a:latin typeface="Segoe UI"/>
              </a:rPr>
              <a:t>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86384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>
                <a:solidFill>
                  <a:srgbClr val="0F142E"/>
                </a:solidFill>
                <a:latin typeface="Segoe UI"/>
              </a:rPr>
              <a:t>The same dashboard, four different realities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44752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44E6E"/>
                </a:solidFill>
                <a:latin typeface="Segoe UI"/>
              </a:rPr>
              <a:t>One URL. Identical rendering. What changes is the navigation, the action set and the underlying data — resolved from role at request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20240"/>
            <a:ext cx="2706624" cy="15224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3442716"/>
            <a:ext cx="2706624" cy="10972"/>
          </a:xfrm>
          <a:prstGeom prst="rect">
            <a:avLst/>
          </a:prstGeom>
          <a:solidFill>
            <a:srgbClr val="DF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3552444"/>
            <a:ext cx="24140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142E"/>
                </a:solidFill>
                <a:latin typeface="Segoe UI"/>
              </a:rP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90188"/>
            <a:ext cx="24140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3B0"/>
                </a:solidFill>
                <a:latin typeface="Segoe UI"/>
              </a:rPr>
              <a:t>Organization-wide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517136"/>
            <a:ext cx="54864" cy="54864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44E6E"/>
                </a:solidFill>
                <a:latin typeface="Segoe UI"/>
              </a:rPr>
              <a:t>Reports, AI insights and roles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791456"/>
            <a:ext cx="54864" cy="54864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44E6E"/>
                </a:solidFill>
                <a:latin typeface="Segoe UI"/>
              </a:rPr>
              <a:t>Manages people and roles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065776"/>
            <a:ext cx="54864" cy="54864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444E6E"/>
                </a:solidFill>
                <a:latin typeface="Segoe UI"/>
              </a:rPr>
              <a:t>16/18 modules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83864" y="192024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1920240"/>
            <a:ext cx="2706624" cy="152247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483864" y="3442716"/>
            <a:ext cx="2706624" cy="10972"/>
          </a:xfrm>
          <a:prstGeom prst="rect">
            <a:avLst/>
          </a:prstGeom>
          <a:solidFill>
            <a:srgbClr val="DF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30168" y="3552444"/>
            <a:ext cx="24140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142E"/>
                </a:solidFill>
                <a:latin typeface="Segoe UI"/>
              </a:rPr>
              <a:t>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3790188"/>
            <a:ext cx="24140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3B0"/>
                </a:solidFill>
                <a:latin typeface="Segoe UI"/>
              </a:rPr>
              <a:t>Assigned projects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83864" y="4517136"/>
            <a:ext cx="54864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48456" y="443484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44E6E"/>
                </a:solidFill>
                <a:latin typeface="Segoe UI"/>
              </a:rPr>
              <a:t>Manages tasks and escalations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83864" y="4791456"/>
            <a:ext cx="54864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48456" y="470916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44E6E"/>
                </a:solidFill>
                <a:latin typeface="Segoe UI"/>
              </a:rPr>
              <a:t>User list is read-only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83864" y="5065776"/>
            <a:ext cx="54864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48456" y="498348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44E6E"/>
                </a:solidFill>
                <a:latin typeface="Segoe UI"/>
              </a:rPr>
              <a:t>12/18 modules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192024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01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920240"/>
            <a:ext cx="2706624" cy="1522476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309360" y="3442716"/>
            <a:ext cx="2706624" cy="10972"/>
          </a:xfrm>
          <a:prstGeom prst="rect">
            <a:avLst/>
          </a:prstGeom>
          <a:solidFill>
            <a:srgbClr val="DF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55664" y="3552444"/>
            <a:ext cx="24140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142E"/>
                </a:solidFill>
                <a:latin typeface="Segoe UI"/>
              </a:rPr>
              <a:t>DepartmentHead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790188"/>
            <a:ext cx="24140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3B0"/>
                </a:solidFill>
                <a:latin typeface="Segoe UI"/>
              </a:rPr>
              <a:t>One department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517136"/>
            <a:ext cx="5486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443484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44E6E"/>
                </a:solidFill>
                <a:latin typeface="Segoe UI"/>
              </a:rPr>
              <a:t>Own departmental milestones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791456"/>
            <a:ext cx="5486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73952" y="470916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44E6E"/>
                </a:solidFill>
                <a:latin typeface="Segoe UI"/>
              </a:rPr>
              <a:t>Manages departmental users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5065776"/>
            <a:ext cx="5486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498348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44E6E"/>
                </a:solidFill>
                <a:latin typeface="Segoe UI"/>
              </a:rPr>
              <a:t>13/18 modules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34856" y="192024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01-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4856" y="1920240"/>
            <a:ext cx="2706624" cy="1522476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9134856" y="3442716"/>
            <a:ext cx="2706624" cy="10972"/>
          </a:xfrm>
          <a:prstGeom prst="rect">
            <a:avLst/>
          </a:prstGeom>
          <a:solidFill>
            <a:srgbClr val="DF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81160" y="3552444"/>
            <a:ext cx="24140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142E"/>
                </a:solidFill>
                <a:latin typeface="Segoe UI"/>
              </a:rPr>
              <a:t>TeamMember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790188"/>
            <a:ext cx="24140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3B0"/>
                </a:solidFill>
                <a:latin typeface="Segoe UI"/>
              </a:rPr>
              <a:t>Execution only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34856" y="4517136"/>
            <a:ext cx="54864" cy="5486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99448" y="443484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44E6E"/>
                </a:solidFill>
                <a:latin typeface="Segoe UI"/>
              </a:rPr>
              <a:t>Only assigned tasks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34856" y="4791456"/>
            <a:ext cx="54864" cy="5486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99448" y="470916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44E6E"/>
                </a:solidFill>
                <a:latin typeface="Segoe UI"/>
              </a:rPr>
              <a:t>Time tracker and progress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34856" y="5065776"/>
            <a:ext cx="54864" cy="5486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99448" y="498348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44E6E"/>
                </a:solidFill>
                <a:latin typeface="Segoe UI"/>
              </a:rPr>
              <a:t>9/18 modules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853</Words>
  <Application>Microsoft Office PowerPoint</Application>
  <PresentationFormat>Widescreen</PresentationFormat>
  <Paragraphs>184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os</dc:creator>
  <cp:keywords/>
  <dc:description>generated using python-pptx</dc:description>
  <cp:lastModifiedBy>os</cp:lastModifiedBy>
  <cp:revision>12</cp:revision>
  <dcterms:created xsi:type="dcterms:W3CDTF">2013-01-27T09:14:16Z</dcterms:created>
  <dcterms:modified xsi:type="dcterms:W3CDTF">2026-10-02T15:21:22Z</dcterms:modified>
  <cp:category/>
</cp:coreProperties>
</file>